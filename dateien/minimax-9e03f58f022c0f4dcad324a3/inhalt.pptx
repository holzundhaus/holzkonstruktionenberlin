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nstruktionenberlin/jahreskontrolle-pflege-holzkonstruktionen-anschluesse-hirnholz-pfostenfuesse/" TargetMode="External"/><Relationship Id="rId3" Type="http://schemas.openxmlformats.org/officeDocument/2006/relationships/hyperlink" Target="https://holzundhaus.github.io/holzkonstruktionenberlin/dateien/minimax-9e03f58f022c0f4dcad324a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Jahreskontrolle und Pflege bei Holzkonstruktionen: Anschlüsse, Hirnholz und Pfostenfüße im Blick · Erklärende Präsentation</a:t>
            </a:r>
          </a:p>
        </p:txBody>
      </p:sp>
      <p:sp>
        <p:nvSpPr>
          <p:cNvPr id="3" name="Content Placeholder 2"/>
          <p:cNvSpPr>
            <a:spLocks noGrp="1"/>
          </p:cNvSpPr>
          <p:nvPr>
            <p:ph idx="1"/>
          </p:nvPr>
        </p:nvSpPr>
        <p:spPr/>
        <p:txBody>
          <a:bodyPr/>
          <a:lstStyle/>
          <a:p>
            <a:r>
              <a:t>Überblick: Eine Holzkonstruktion ist nach ihrer Errichtung nicht automatisch dauerhaft gepflegt. Witterung, Nutzung und Ablagerungen wirken besonders auf Anschlüsse, Hirnholzflächen und Pfostenfüße. Der folgende Leitfaden strukturiert die jährliche Kontrolle, damit auffällige Stellen früh erkannt, eingeordnet und passend behandelt werden können. Die Grundprinzipien des konstruktiven Holzschutzes sind im Beitrag zum konstruktiven Holzschutz hinterlegt; dieser Text ergänzt sie um einen konkreten Rundgang für die Nutzungsphase.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jährliche Rundgang: von oben nach unten</a:t>
            </a:r>
          </a:p>
        </p:txBody>
      </p:sp>
      <p:sp>
        <p:nvSpPr>
          <p:cNvPr id="3" name="Content Placeholder 2"/>
          <p:cNvSpPr>
            <a:spLocks noGrp="1"/>
          </p:cNvSpPr>
          <p:nvPr>
            <p:ph idx="1"/>
          </p:nvPr>
        </p:nvSpPr>
        <p:spPr/>
        <p:txBody>
          <a:bodyPr/>
          <a:lstStyle/>
          <a:p>
            <a:pPr>
              <a:defRPr sz="1800"/>
            </a:pPr>
            <a:r>
              <a:t>Ein fester Ablauf hilft, wichtige Bereiche nicht zu übersehen. Da Wasser häufig von oben nach unten wandert, beginnt die Kontrolle bei Überdachungen und Abdeckungen. Prüfen Sie deren festen Sitz und Dichtigkeit, anschließend Tropfkanten, Gefälleflächen und Abläufe. Danach folgen Anschlüsse an Wänden, Dächern oder Nachbarbauteilen, danach Hirnholzflächen und zuletzt Pfostenfüße sowie der Bereich unter und hinter der Konstruktion. Laub, Schmutz und stehendes Wasser sollten entfernt werden, weil sie Feuchte halten und die weitere Kontrolle erschweren können. Notieren Sie Auffälligkeiten direkt, statt sie nur zu vermuten. So bleibt der Zustand 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jährliche Rundgang: von oben nach unten</a:t>
            </a:r>
          </a:p>
        </p:txBody>
      </p:sp>
      <p:sp>
        <p:nvSpPr>
          <p:cNvPr id="3" name="Content Placeholder 2"/>
          <p:cNvSpPr>
            <a:spLocks noGrp="1"/>
          </p:cNvSpPr>
          <p:nvPr>
            <p:ph idx="1"/>
          </p:nvPr>
        </p:nvSpPr>
        <p:spPr/>
        <p:txBody>
          <a:bodyPr/>
          <a:lstStyle/>
          <a:p>
            <a:pPr>
              <a:defRPr sz="1800"/>
            </a:pPr>
            <a:r>
              <a:t>ch mit dem Vorjahr vergleichbar.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Hirnholzflächen gezielt beurteilen</a:t>
            </a:r>
          </a:p>
        </p:txBody>
      </p:sp>
      <p:sp>
        <p:nvSpPr>
          <p:cNvPr id="3" name="Content Placeholder 2"/>
          <p:cNvSpPr>
            <a:spLocks noGrp="1"/>
          </p:cNvSpPr>
          <p:nvPr>
            <p:ph idx="1"/>
          </p:nvPr>
        </p:nvSpPr>
        <p:spPr/>
        <p:txBody>
          <a:bodyPr/>
          <a:lstStyle/>
          <a:p>
            <a:pPr>
              <a:defRPr sz="1800"/>
            </a:pPr>
            <a:r>
              <a:t>Stirn- und Endflächen nehmen Feuchtigkeit besonders schnell auf und geben sie langsamer wieder ab. Sehen Sie daher genauer hin als bei einer allgemeinen Sichtprüfung. Risse, Verfärbungen und feuchte Stellen können Hinweise auf die Beanspruchung durch Witterung sein. Abdeckungen und Schutzprofile sollten fest sitzen, dürfen aber keine Feuchte einschließen. Wichtig ist außerdem, Wasserfallen rund um das Hirnholz zu erkennen und zu beseitigen. Beobachten Sie, ob sich Verschatten oder neue Spritzwasserquellen gebildet haben. Bei wiederkehrenden Auffälligkeiten an derselben Fläche sollte nicht nur die Oberfläche behandelt werden: Auch das umgebend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Hirnholzflächen gezielt beurteilen</a:t>
            </a:r>
          </a:p>
        </p:txBody>
      </p:sp>
      <p:sp>
        <p:nvSpPr>
          <p:cNvPr id="3" name="Content Placeholder 2"/>
          <p:cNvSpPr>
            <a:spLocks noGrp="1"/>
          </p:cNvSpPr>
          <p:nvPr>
            <p:ph idx="1"/>
          </p:nvPr>
        </p:nvSpPr>
        <p:spPr/>
        <p:txBody>
          <a:bodyPr/>
          <a:lstStyle/>
          <a:p>
            <a:pPr>
              <a:defRPr sz="1800"/>
            </a:pPr>
            <a:r>
              <a:t>e bauliche Detail gehört in die weitere Betrachtung. Die jährliche Kontrolle von Hirnholzflächen ergänzt die allgemeinen Hinweise zu Pflege und Instandhaltung.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Fugen auf Feuchte und Bewegung prüfen</a:t>
            </a:r>
          </a:p>
        </p:txBody>
      </p:sp>
      <p:sp>
        <p:nvSpPr>
          <p:cNvPr id="3" name="Content Placeholder 2"/>
          <p:cNvSpPr>
            <a:spLocks noGrp="1"/>
          </p:cNvSpPr>
          <p:nvPr>
            <p:ph idx="1"/>
          </p:nvPr>
        </p:nvSpPr>
        <p:spPr/>
        <p:txBody>
          <a:bodyPr/>
          <a:lstStyle/>
          <a:p>
            <a:pPr>
              <a:defRPr sz="1800"/>
            </a:pPr>
            <a:r>
              <a:t>Anschlüsse erfüllen nicht nur statische Aufgaben. Sie beeinflussen auch, ob Wasser in Fugen eintritt, stehen bleibt oder wieder abtrocknen kann. Achten Sie auf Laub, Erde und Schmutz in Ecken, auf Wasserflecken oder dunkle Verfärbungen an Kontaktflächen sowie auf erkennbare Verformungen. Lockerungen an Verbindungsmitteln können sich durch Rostspuren oder veränderte Spalten zeigen. Wenn angrenzende Bauteile den Wasserlauf umlenken, verändert sich die Belastung des Anschlusses. Reinigung und Freihalten sind deshalb wichtige erste Maßnahmen. Reparaturen an Abdeckungen oder Verbindungen sollten nicht lange aufgeschoben werden. Einzelne Beobachtun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Fugen auf Feuchte und Bewegung prüfen</a:t>
            </a:r>
          </a:p>
        </p:txBody>
      </p:sp>
      <p:sp>
        <p:nvSpPr>
          <p:cNvPr id="3" name="Content Placeholder 2"/>
          <p:cNvSpPr>
            <a:spLocks noGrp="1"/>
          </p:cNvSpPr>
          <p:nvPr>
            <p:ph idx="1"/>
          </p:nvPr>
        </p:nvSpPr>
        <p:spPr/>
        <p:txBody>
          <a:bodyPr/>
          <a:lstStyle/>
          <a:p>
            <a:pPr>
              <a:defRPr sz="1800"/>
            </a:pPr>
            <a:r>
              <a:t>gen lassen sich noch nicht abschließend bewerten; Ausmaß, Ursache und Vergleich mit dem Vorjahr geben eine belastbarere Grundlage für die nächsten Schritte.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Pfostenfuß und Bodenkontakt</a:t>
            </a:r>
          </a:p>
        </p:txBody>
      </p:sp>
      <p:sp>
        <p:nvSpPr>
          <p:cNvPr id="3" name="Content Placeholder 2"/>
          <p:cNvSpPr>
            <a:spLocks noGrp="1"/>
          </p:cNvSpPr>
          <p:nvPr>
            <p:ph idx="1"/>
          </p:nvPr>
        </p:nvSpPr>
        <p:spPr/>
        <p:txBody>
          <a:bodyPr/>
          <a:lstStyle/>
          <a:p>
            <a:pPr>
              <a:defRPr sz="1800"/>
            </a:pPr>
            <a:r>
              <a:t>Am Pfostenfuß treffen mehrere Einflüsse zusammen: Feuchte aus dem Boden, Spritzwasser, umgebende Vegetation und die örtliche Wasserführung. Prüfen Sie den Abstand zwischen Holz und Erdreich, Belag oder Bewuchs sowie mögliche Spritzwasserquellen wie Fallrohre oder ungünstige Gefälle. Achten Sie darauf, dass sich rund um den Pfosten keine Pfützen bilden und Wasser abfließen kann. Korrosion oder Verschleiß an Pfostenträgern und Befestigungsmitteln gehören ebenfalls zur Kontrolle. Nach Regentagen kann die Trocknung beobachtet werden. Eine Trennung von Holz und Untergrund allein beseitigt nicht jede Feuchtebelastung; Ablauf, Freiraum und die umgeb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Pfostenfuß und Bodenkontakt</a:t>
            </a:r>
          </a:p>
        </p:txBody>
      </p:sp>
      <p:sp>
        <p:nvSpPr>
          <p:cNvPr id="3" name="Content Placeholder 2"/>
          <p:cNvSpPr>
            <a:spLocks noGrp="1"/>
          </p:cNvSpPr>
          <p:nvPr>
            <p:ph idx="1"/>
          </p:nvPr>
        </p:nvSpPr>
        <p:spPr/>
        <p:txBody>
          <a:bodyPr/>
          <a:lstStyle/>
          <a:p>
            <a:pPr>
              <a:defRPr sz="1800"/>
            </a:pPr>
            <a:r>
              <a:t>ende Oberfläche müssen mitbetrachtet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Beobachtungen und sinnvolle nächste Schritte</a:t>
            </a:r>
          </a:p>
        </p:txBody>
      </p:sp>
      <p:sp>
        <p:nvSpPr>
          <p:cNvPr id="3" name="Content Placeholder 2"/>
          <p:cNvSpPr>
            <a:spLocks noGrp="1"/>
          </p:cNvSpPr>
          <p:nvPr>
            <p:ph idx="1"/>
          </p:nvPr>
        </p:nvSpPr>
        <p:spPr/>
        <p:txBody>
          <a:bodyPr/>
          <a:lstStyle/>
          <a:p>
            <a:pPr>
              <a:defRPr sz="1800"/>
            </a:pPr>
            <a:r>
              <a:t>Im Frühjahr lassen sich Winterrückstände wie Laub, Moos und stehendes Wasser beseitigen. Im Sommer sind Trockenrisse, Verfärbungen und Lockerungen an Verbindungsmitteln besonders relevant. Im Herbst ist die zunehmende Feuchteanreicherung in Ecken und an Anschlüssen zu prüfen, im Winter können Schneelasten sowie Spritzwasser durch Tauen und Eislinsen Aufmerksamkeit erfordern. Pflege bedeutet deshalb nicht automatisch Streichen. Zunächst werden Verschmutzungen entfernt, Abläufe freigehalten und Veränderungen beobachtet. Ein Anstrich kann Teil eines Schutzkonzepts sein, ersetzt aber keine funktionierende Wasserableitung und beseitigt keine Wasse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Beobachtungen und sinnvolle nächste Schritte</a:t>
            </a:r>
          </a:p>
        </p:txBody>
      </p:sp>
      <p:sp>
        <p:nvSpPr>
          <p:cNvPr id="3" name="Content Placeholder 2"/>
          <p:cNvSpPr>
            <a:spLocks noGrp="1"/>
          </p:cNvSpPr>
          <p:nvPr>
            <p:ph idx="1"/>
          </p:nvPr>
        </p:nvSpPr>
        <p:spPr/>
        <p:txBody>
          <a:bodyPr/>
          <a:lstStyle/>
          <a:p>
            <a:pPr>
              <a:defRPr sz="1800"/>
            </a:pPr>
            <a:r>
              <a:t>rfalle. Bleibt eine Auffälligkeit bestehen oder kehrt wieder, sollte das betroffene Detail fachlich bewertet und gegebenenfalls angepasst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Jahreskontrolle und Pflege bei Holzkonstruktionen: Anschlüsse, Hirnholz und Pfostenfüße im 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