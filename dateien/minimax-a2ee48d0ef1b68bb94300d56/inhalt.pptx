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konstruktionenberlin.blogspot.com/2026/10/standort-innen-oder-auen-was-gehort-in.html" TargetMode="External"/><Relationship Id="rId3" Type="http://schemas.openxmlformats.org/officeDocument/2006/relationships/hyperlink" Target="https://holzundhaus.github.io/holzkonstruktionenberlin/dateien/minimax-a2ee48d0ef1b68bb94300d56/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Standort Innen oder Außen: Was gehört in die Anfrage für eine Holzkonstruktion? · Erklärende Präsentation</a:t>
            </a:r>
          </a:p>
        </p:txBody>
      </p:sp>
      <p:sp>
        <p:nvSpPr>
          <p:cNvPr id="3" name="Content Placeholder 2"/>
          <p:cNvSpPr>
            <a:spLocks noGrp="1"/>
          </p:cNvSpPr>
          <p:nvPr>
            <p:ph idx="1"/>
          </p:nvPr>
        </p:nvSpPr>
        <p:spPr/>
        <p:txBody>
          <a:bodyPr/>
          <a:lstStyle/>
          <a:p>
            <a:r>
              <a:t>Überblick: Bei einer Holzkonstruktion entscheidet der Standort darüber, welche Feuchtebelastungen das Bauteil erwartet und welche Schutzmaßnahmen erforderlich sind. Innenraum, geschützter Außenbereich und direkt bewitterte Außenfläche lassen sich nicht gleich behandeln. Wer diese Unterschiede in der Anfrage beschreibt, schafft eine belastbare Grundlage für die weitere Planung und vermeidet unnötige Pauschalaussagen. Der folgende Leitfaden strukturiert die wichtigsten Angaben zu Lage, Witterung, Nutzung und Zugänglichkeit.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Innen, geschützt außen oder direkt bewittert?</a:t>
            </a:r>
          </a:p>
        </p:txBody>
      </p:sp>
      <p:sp>
        <p:nvSpPr>
          <p:cNvPr id="3" name="Content Placeholder 2"/>
          <p:cNvSpPr>
            <a:spLocks noGrp="1"/>
          </p:cNvSpPr>
          <p:nvPr>
            <p:ph idx="1"/>
          </p:nvPr>
        </p:nvSpPr>
        <p:spPr/>
        <p:txBody>
          <a:bodyPr/>
          <a:lstStyle/>
          <a:p>
            <a:pPr>
              <a:defRPr sz="1800"/>
            </a:pPr>
            <a:r>
              <a:t>Die drei wichtigsten Standorttypen unterscheiden sich vor allem durch die Art des Feuchte- und Witterungseintrags. Im Innenraum gibt es normalerweise weder direkten Schlagregen noch starke Temperaturschwankungen. Kritisch werden dort beispielsweise Tauwasser an kalten Bauteilflächen, eingeschlossene Feuchte hinter Bekleidungen oder Spritzwasser in Feuchträumen. Hier rückt die Anschlussausbildung in den Vordergrund; auch die spätere Zugänglichkeit für Kontrollen ist relevant.</a:t>
            </a:r>
          </a:p>
          <a:p>
            <a:pPr>
              <a:defRPr sz="1800"/>
            </a:pPr>
          </a:p>
          <a:p>
            <a:pPr>
              <a:defRPr sz="1800"/>
            </a:pPr>
            <a:r>
              <a:t>Im geschützten Außenbereich liegt das Bauteil unter einem Dachüberstand, einem Vordach oder in einer Loggia. Windgetriebener Regen kann jedoch auch überdachte Flächen 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Innen, geschützt außen oder direkt bewittert?</a:t>
            </a:r>
          </a:p>
        </p:txBody>
      </p:sp>
      <p:sp>
        <p:nvSpPr>
          <p:cNvPr id="3" name="Content Placeholder 2"/>
          <p:cNvSpPr>
            <a:spLocks noGrp="1"/>
          </p:cNvSpPr>
          <p:nvPr>
            <p:ph idx="1"/>
          </p:nvPr>
        </p:nvSpPr>
        <p:spPr/>
        <p:txBody>
          <a:bodyPr/>
          <a:lstStyle/>
          <a:p>
            <a:pPr>
              <a:defRPr sz="1800"/>
            </a:pPr>
            <a:r>
              <a:t>reichen. Laub, Schmutz und Feuchte in Ecken sowie Schwitzwasser sind daher zu berücksichtigen. „Überdacht“ allein ist folglich keine ausreichende Beschreibung.</a:t>
            </a:r>
          </a:p>
          <a:p>
            <a:pPr>
              <a:defRPr sz="1800"/>
            </a:pPr>
          </a:p>
          <a:p>
            <a:pPr>
              <a:defRPr sz="1800"/>
            </a:pPr>
            <a:r>
              <a:t>Ein direkt bewittertes Bauteil ist zusätzlich Sonne, Frost-Tau-Wechsel, Schlagregen und möglicherweise Spritzwasser vom Boden ausgesetzt. Hier sind Tropfkanten, Ablaufwege, Gefälle, Pfostenfüße und die Ausbildung von Kontaktflächen besonders wichtig. Die Grundlagen des konstruktiven Holzschutzes sind im passenden Beitrag zum Standort Innen oder Außen zusammengefasst.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Lage genau beschreiben</a:t>
            </a:r>
          </a:p>
        </p:txBody>
      </p:sp>
      <p:sp>
        <p:nvSpPr>
          <p:cNvPr id="3" name="Content Placeholder 2"/>
          <p:cNvSpPr>
            <a:spLocks noGrp="1"/>
          </p:cNvSpPr>
          <p:nvPr>
            <p:ph idx="1"/>
          </p:nvPr>
        </p:nvSpPr>
        <p:spPr/>
        <p:txBody>
          <a:bodyPr/>
          <a:lstStyle/>
          <a:p>
            <a:pPr>
              <a:defRPr sz="1800"/>
            </a:pPr>
            <a:r>
              <a:t>Für die Anfrage genügt eine sachliche Beschreibung ohne Fachjargon. Zu nennen sind die Position des Bauteils und die angrenzenden Gegebenheiten. Steht es an einer Hauswand, an einer Fassade, unter einem Vordach oder frei im Garten? Fugen sich an eine Mauer, ein Dach oder ein Nachbargebäude an? Werden Regen oder Schatten durch diese Bauteile umgelenkt?</a:t>
            </a:r>
          </a:p>
          <a:p>
            <a:pPr>
              <a:defRPr sz="1800"/>
            </a:pPr>
          </a:p>
          <a:p>
            <a:pPr>
              <a:defRPr sz="1800"/>
            </a:pPr>
            <a:r>
              <a:t>Auch die Himmelsrichtung kann helfen. Eine südl gelegene Fläche ist stärker der Sonne und teilweise dem Schlagregen ausgesetzt. Nordlagen können dagegen langsamer abtrocknen. Diese Angaben ersetzen keine standortspezifische Planung, sie vermitteln aber ein genaueres Bild der tatsächlichen Beans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Lage genau beschreiben</a:t>
            </a:r>
          </a:p>
        </p:txBody>
      </p:sp>
      <p:sp>
        <p:nvSpPr>
          <p:cNvPr id="3" name="Content Placeholder 2"/>
          <p:cNvSpPr>
            <a:spLocks noGrp="1"/>
          </p:cNvSpPr>
          <p:nvPr>
            <p:ph idx="1"/>
          </p:nvPr>
        </p:nvSpPr>
        <p:spPr/>
        <p:txBody>
          <a:bodyPr/>
          <a:lstStyle/>
          <a:p>
            <a:pPr>
              <a:defRPr sz="1800"/>
            </a:pPr>
            <a:r>
              <a:t>pruchung. Bei der Einordnung der weiteren Schutzdetails hilft der ergänzende Überblick zum konstruktiven Holzschutz.</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Witterung und Wasserwege erfassen</a:t>
            </a:r>
          </a:p>
        </p:txBody>
      </p:sp>
      <p:sp>
        <p:nvSpPr>
          <p:cNvPr id="3" name="Content Placeholder 2"/>
          <p:cNvSpPr>
            <a:spLocks noGrp="1"/>
          </p:cNvSpPr>
          <p:nvPr>
            <p:ph idx="1"/>
          </p:nvPr>
        </p:nvSpPr>
        <p:spPr/>
        <p:txBody>
          <a:bodyPr/>
          <a:lstStyle/>
          <a:p>
            <a:pPr>
              <a:defRPr sz="1800"/>
            </a:pPr>
            <a:r>
              <a:t>Entscheidend ist nicht nur, ob das Bauteil im Freien steht, sondern wie Wasser dort hingelangt. Die Anfrage sollte unterscheiden, ob es von oben durch Regen, von der Seite durch Schlagregen oder vom Boden durch Spritzwasser belastet wird. Auch die Häufigkeit und Intensität der Belastung sind relevant.</a:t>
            </a:r>
          </a:p>
          <a:p>
            <a:pPr>
              <a:defRPr sz="1800"/>
            </a:pPr>
          </a:p>
          <a:p>
            <a:pPr>
              <a:defRPr sz="1800"/>
            </a:pPr>
            <a:r>
              <a:t>Zusätzlich lassen sich sichtbare Wasserwege beschreiben: Gibt es waagerechte Flächen, auf denen Wasser stehen bleiben kann? Führt ein Gefälle das Wasser kontrolliert ab? Entstehen Feuchtenester an Kontaktflächen? Sind Pfosten mit Bodenkontakt oder Hirnholzflächen ungeschützt der Witterung ausgesetzt? Laubfall, Eis und besondere Verschmutzungen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Witterung und Wasserwege erfassen</a:t>
            </a:r>
          </a:p>
        </p:txBody>
      </p:sp>
      <p:sp>
        <p:nvSpPr>
          <p:cNvPr id="3" name="Content Placeholder 2"/>
          <p:cNvSpPr>
            <a:spLocks noGrp="1"/>
          </p:cNvSpPr>
          <p:nvPr>
            <p:ph idx="1"/>
          </p:nvPr>
        </p:nvSpPr>
        <p:spPr/>
        <p:txBody>
          <a:bodyPr/>
          <a:lstStyle/>
          <a:p>
            <a:pPr>
              <a:defRPr sz="1800"/>
            </a:pPr>
            <a:r>
              <a:t>können ebenfalls eine Rolle spielen. Diese Angaben helfen einzuschätzen, ob der Schutz vor allem gegen direkte Beaufschlagung, Feuchteanreicherung oder langsame Abtrocknung ausgelegt werden muss.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Nutzung und spätere Kontrolle berücksichtigen</a:t>
            </a:r>
          </a:p>
        </p:txBody>
      </p:sp>
      <p:sp>
        <p:nvSpPr>
          <p:cNvPr id="3" name="Content Placeholder 2"/>
          <p:cNvSpPr>
            <a:spLocks noGrp="1"/>
          </p:cNvSpPr>
          <p:nvPr>
            <p:ph idx="1"/>
          </p:nvPr>
        </p:nvSpPr>
        <p:spPr/>
        <p:txBody>
          <a:bodyPr/>
          <a:lstStyle/>
          <a:p>
            <a:pPr>
              <a:defRPr sz="1800"/>
            </a:pPr>
            <a:r>
              <a:t>Nicht jede Holzkonstruktion wird gleich beansprucht. Wird sie begangen, befahren oder lediglich montiert? Bleiben Anschlüsse und Übergänge nach dem Aufbau erreichbar, sodass Schmutz entfernt und Feuchteschäden erkannt werden können? Diese Frage gehört ebenso in die Anfrage wie die Gestaltung der Oberfläche.</a:t>
            </a:r>
          </a:p>
          <a:p>
            <a:pPr>
              <a:defRPr sz="1800"/>
            </a:pPr>
          </a:p>
          <a:p>
            <a:pPr>
              <a:defRPr sz="1800"/>
            </a:pPr>
            <a:r>
              <a:t>Auch die gewünschte Optik sollte eingeordnet werden. Soll das Holz unbehandelt, lasiert oder deckend behandelt sein? Dient die Oberflächenbehandlung primär der Optik oder soll sie Bestandteil eines umfassenden Schutzkonzepts sein? Eine klare Erwartung verhindert, dass der Zweck der Maßnahme später unterschiedlich verstanden wird.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Mit konkreten Angaben planen</a:t>
            </a:r>
          </a:p>
        </p:txBody>
      </p:sp>
      <p:sp>
        <p:nvSpPr>
          <p:cNvPr id="3" name="Content Placeholder 2"/>
          <p:cNvSpPr>
            <a:spLocks noGrp="1"/>
          </p:cNvSpPr>
          <p:nvPr>
            <p:ph idx="1"/>
          </p:nvPr>
        </p:nvSpPr>
        <p:spPr/>
        <p:txBody>
          <a:bodyPr/>
          <a:lstStyle/>
          <a:p>
            <a:pPr>
              <a:defRPr sz="1800"/>
            </a:pPr>
            <a:r>
              <a:t>Eine gute Erstinformation beschreibt die tatsächliche Situation: Wo steht das Bauteil, welche Witterung erreicht es, wie wird es genutzt und was soll später zugänglich bleiben. Angaben zu Querschnitten, Holzart, statischen Nachweisen oder Genehmigungsfragen müssen dabei nicht vorweggenommen werden. Diese Punkte gehören in die spätere Fachplanung, weil sie von Last, Spannweite, Nutzung und Standort gemeinsam abhängen.</a:t>
            </a:r>
          </a:p>
          <a:p>
            <a:pPr>
              <a:defRPr sz="1800"/>
            </a:pPr>
          </a:p>
          <a:p>
            <a:pPr>
              <a:defRPr sz="1800"/>
            </a:pPr>
            <a:r>
              <a:t>Konkret könnte eine Anfrage statt „Außenbereich“ lauten: „Freistehende Terrassenüberdachung an der Südseite eines Wohnhauses, zwischen Hauswand und Gartenpforte. Direkte Regenbelastung, morgens Schatten durch ein angrenzendes Vo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Mit konkreten Angaben planen</a:t>
            </a:r>
          </a:p>
        </p:txBody>
      </p:sp>
      <p:sp>
        <p:nvSpPr>
          <p:cNvPr id="3" name="Content Placeholder 2"/>
          <p:cNvSpPr>
            <a:spLocks noGrp="1"/>
          </p:cNvSpPr>
          <p:nvPr>
            <p:ph idx="1"/>
          </p:nvPr>
        </p:nvSpPr>
        <p:spPr/>
        <p:txBody>
          <a:bodyPr/>
          <a:lstStyle/>
          <a:p>
            <a:pPr>
              <a:defRPr sz="1800"/>
            </a:pPr>
            <a:r>
              <a:t>rdach, nachmittags volle Sonne. Pfosten auf Pflaster mit Spritzwasser. Anschlüsse sollen nach dem Aufbau kontrollierbar bleiben.“ Solche Angaben ermöglichen eine erste Einordnung, ohne eine fertige technische Lösung vorzutäuschen.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Standort Innen oder Außen: Was gehört in die Anfrage für eine Holzkonstruktion?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