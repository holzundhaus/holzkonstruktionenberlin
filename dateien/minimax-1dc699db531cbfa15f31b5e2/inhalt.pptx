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konstruktionenberlin/typische-holzkonstruktionen-vorhaben-uebersicht/" TargetMode="External"/><Relationship Id="rId3" Type="http://schemas.openxmlformats.org/officeDocument/2006/relationships/hyperlink" Target="https://holzundhaus.github.io/holzkonstruktionenberlin/dateien/minimax-1dc699db531cbfa15f31b5e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Vorhaben fallen unter typische Holzkonstruktionen – und worin unterscheiden sie sich? · Erklärende Präsentation</a:t>
            </a:r>
          </a:p>
        </p:txBody>
      </p:sp>
      <p:sp>
        <p:nvSpPr>
          <p:cNvPr id="3" name="Content Placeholder 2"/>
          <p:cNvSpPr>
            <a:spLocks noGrp="1"/>
          </p:cNvSpPr>
          <p:nvPr>
            <p:ph idx="1"/>
          </p:nvPr>
        </p:nvSpPr>
        <p:spPr/>
        <p:txBody>
          <a:bodyPr/>
          <a:lstStyle/>
          <a:p>
            <a:r>
              <a:t>Überblick: Für eine belastbare erste Einschätzung von Holzkonstruktionen reicht die Vorhabensform allein nicht aus. Carport, Terrassenüberdachung, Vordach, Pergola und Balkonanbau benötigen zwar unterschiedliche Lösungen, ihre Planung beginnt jedoch mit denselben Kernfragen: Welche Nutzung ist vorgesehen, welche Lasten und Spannweiten kommen hinzu, wie wird die Konstruktion angebunden und wie bleibt sie dauerhaft vor Feuchtigkeit geschützt? Die Übersicht typischer Holzkonstruktionen bietet dafür eine verständliche Einordnung. Dieser Beitrag ergänzt sie um einen strukturierten Ablauf für die eigene Vorbereitung und zeigt, welche Angaben bei 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Nutzung beginnen</a:t>
            </a:r>
          </a:p>
        </p:txBody>
      </p:sp>
      <p:sp>
        <p:nvSpPr>
          <p:cNvPr id="3" name="Content Placeholder 2"/>
          <p:cNvSpPr>
            <a:spLocks noGrp="1"/>
          </p:cNvSpPr>
          <p:nvPr>
            <p:ph idx="1"/>
          </p:nvPr>
        </p:nvSpPr>
        <p:spPr/>
        <p:txBody>
          <a:bodyPr/>
          <a:lstStyle/>
          <a:p>
            <a:pPr>
              <a:defRPr sz="1800"/>
            </a:pPr>
            <a:r>
              <a:t>Bevor über Holzarten, Dachformen oder Anschlüsse gesprochen wird, sollte die vorgesehene Nutzung feststehen. Ein Carport muss Fahrzeuge und deren Maße berücksichtigen. Eine Terrassenüberdachung schafft zusätzlichen Raum im Freien und ist meist an eine Fassade angebunden. Ein Vordach schützt einen Eingang oder eine Tür, während eine Pergola in erster Linie als Rankgerüst und häufig nur teilweise überdacht geplant wird. Der Balkonanbau ergänzt eine bestehende Geschossdecke und übernimmt eine deutlich intensivere Nutzung. Diese Unterschiede beeinflussen Spannweiten, Lasten, Feuchteschutz und die erforderlichen Anschlüsse. Die Formulierung „eine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der Nutzung beginnen</a:t>
            </a:r>
          </a:p>
        </p:txBody>
      </p:sp>
      <p:sp>
        <p:nvSpPr>
          <p:cNvPr id="3" name="Content Placeholder 2"/>
          <p:cNvSpPr>
            <a:spLocks noGrp="1"/>
          </p:cNvSpPr>
          <p:nvPr>
            <p:ph idx="1"/>
          </p:nvPr>
        </p:nvSpPr>
        <p:spPr/>
        <p:txBody>
          <a:bodyPr/>
          <a:lstStyle/>
          <a:p>
            <a:pPr>
              <a:defRPr sz="1800"/>
            </a:pPr>
            <a:r>
              <a:t>Holzkonstruktion für den Garten“ reicht deshalb für eine konkrete Beurteilung nicht aus. Hilfreicher ist die Frage, was genau überdacht, getragen, geschützt oder bepflanzt werden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Lasten getrennt erfassen</a:t>
            </a:r>
          </a:p>
        </p:txBody>
      </p:sp>
      <p:sp>
        <p:nvSpPr>
          <p:cNvPr id="3" name="Content Placeholder 2"/>
          <p:cNvSpPr>
            <a:spLocks noGrp="1"/>
          </p:cNvSpPr>
          <p:nvPr>
            <p:ph idx="1"/>
          </p:nvPr>
        </p:nvSpPr>
        <p:spPr/>
        <p:txBody>
          <a:bodyPr/>
          <a:lstStyle/>
          <a:p>
            <a:pPr>
              <a:defRPr sz="1800"/>
            </a:pPr>
            <a:r>
              <a:t>Für die erste Orientierung sollten Länge, Breite, Höhe und die voraussichtliche Spannweite zwischen den Auflagern genannt werden. Noch offene Maße können dabei ausdrücklich als ungeklärt bezeichnet werden. Ebenso wichtig ist die erwartete Nutzung: Wird ein Balkon als Sitzfläche genutzt, müssen Nutzlasten anders betrachtet werden als bei einem lediglich schützenden Vordach. Bei Carports und Pergolen spielen zusätzlich Fahrzeugmaße, beziehungsweise Pflanzenbewuchs und eine mögliche Beschattung eine Rolle. Die konkrete Bemessung der Konstruktion bleibt Aufgabe der Tragwerksplanung. Ziel einer ersten Anfrage ist es daher nicht, Lasten selbst zu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Lasten getrennt erfassen</a:t>
            </a:r>
          </a:p>
        </p:txBody>
      </p:sp>
      <p:sp>
        <p:nvSpPr>
          <p:cNvPr id="3" name="Content Placeholder 2"/>
          <p:cNvSpPr>
            <a:spLocks noGrp="1"/>
          </p:cNvSpPr>
          <p:nvPr>
            <p:ph idx="1"/>
          </p:nvPr>
        </p:nvSpPr>
        <p:spPr/>
        <p:txBody>
          <a:bodyPr/>
          <a:lstStyle/>
          <a:p>
            <a:pPr>
              <a:defRPr sz="1800"/>
            </a:pPr>
            <a:r>
              <a:t>erechnen, sondern die vorhandenen Informationen so vollständig wie möglich bereitzustellen. Fotos, Skizzen oder vorhandene Pläne können helfen, die räumliche Situation zu verstehen.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Untergrund unterscheiden</a:t>
            </a:r>
          </a:p>
        </p:txBody>
      </p:sp>
      <p:sp>
        <p:nvSpPr>
          <p:cNvPr id="3" name="Content Placeholder 2"/>
          <p:cNvSpPr>
            <a:spLocks noGrp="1"/>
          </p:cNvSpPr>
          <p:nvPr>
            <p:ph idx="1"/>
          </p:nvPr>
        </p:nvSpPr>
        <p:spPr/>
        <p:txBody>
          <a:bodyPr/>
          <a:lstStyle/>
          <a:p>
            <a:pPr>
              <a:defRPr sz="1800"/>
            </a:pPr>
            <a:r>
              <a:t>Bei freistehenden Konstruktionen wie Carport und Pergola stellen sich vor allem Fragen zur Gründung, zur Befestigung der Stützen und zum Untergrund. Terrassenüberdachung, Vordach und Balkonanbau sind dagegen meist mit einem Gebäude verbunden. Dann interessieren der Zustand der Fassade, vorhandene Wandbauteile, die Anschlussmöglichkeiten und erkennbare Schäden. Die Tragfähigkeit des Bestands sollte dabei nicht eigenständig eingeschätzt werden. Ebenso wichtig ist die Abgrenzung zwischen bereits geplanten und noch vorhandenen Bauteilen. Eine klare Beschreibung, was bereits vorhanden ist und was ergänzt werden soll, verhindert Fehlannahmen. Beson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Untergrund unterscheiden</a:t>
            </a:r>
          </a:p>
        </p:txBody>
      </p:sp>
      <p:sp>
        <p:nvSpPr>
          <p:cNvPr id="3" name="Content Placeholder 2"/>
          <p:cNvSpPr>
            <a:spLocks noGrp="1"/>
          </p:cNvSpPr>
          <p:nvPr>
            <p:ph idx="1"/>
          </p:nvPr>
        </p:nvSpPr>
        <p:spPr/>
        <p:txBody>
          <a:bodyPr/>
          <a:lstStyle/>
          <a:p>
            <a:pPr>
              <a:defRPr sz="1800"/>
            </a:pPr>
            <a:r>
              <a:t>ders hilfreich sind Angaben zu sichtbaren Rissen, Feuchtigkeitsspuren, veränderten Oberflächen oder früheren Umbauten. Solche Hinweise ersetzen keine Prüfung vor Ort, liefern aber einen belastbaren ersten Anhaltspunkt für das weitere Vorgehen.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bewusst planen</a:t>
            </a:r>
          </a:p>
        </p:txBody>
      </p:sp>
      <p:sp>
        <p:nvSpPr>
          <p:cNvPr id="3" name="Content Placeholder 2"/>
          <p:cNvSpPr>
            <a:spLocks noGrp="1"/>
          </p:cNvSpPr>
          <p:nvPr>
            <p:ph idx="1"/>
          </p:nvPr>
        </p:nvSpPr>
        <p:spPr/>
        <p:txBody>
          <a:bodyPr/>
          <a:lstStyle/>
          <a:p>
            <a:pPr>
              <a:defRPr sz="1800"/>
            </a:pPr>
            <a:r>
              <a:t>Bei allen Außenkonstruktionen ist die Wasserführung ein zentrales Thema. Regen, Wind und Spritzwasser beanspruchen nicht nur die sichtbaren Flächen, sondern auch Pfostenfüße, Balkenköpfe, Hirnholzflächen, Dachränder und Wandanschlüsse. Eine Konstruktion sollte nicht nur gegen das direkte Wetter geschützt werden, sondern auch dort, wo Wasser ablaufen, sich sammeln oder zurückspringen könnte. Das ist bei Carports mit geneigten Dächern ebenso relevant wie bei einer Terrassenüberdachung, die nicht zur Hauswand zurücklaufen lassen sollte. Pergolen benötigen wegen der Pflanzen und ihrer Nähe zum Boden besondere Aufmerksamkeit für Spritzwasser. Beim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bewusst planen</a:t>
            </a:r>
          </a:p>
        </p:txBody>
      </p:sp>
      <p:sp>
        <p:nvSpPr>
          <p:cNvPr id="3" name="Content Placeholder 2"/>
          <p:cNvSpPr>
            <a:spLocks noGrp="1"/>
          </p:cNvSpPr>
          <p:nvPr>
            <p:ph idx="1"/>
          </p:nvPr>
        </p:nvSpPr>
        <p:spPr/>
        <p:txBody>
          <a:bodyPr/>
          <a:lstStyle/>
          <a:p>
            <a:pPr>
              <a:defRPr sz="1800"/>
            </a:pPr>
            <a:r>
              <a:t> Balkonanbau kommen die Fugen zwischen Belag und Stirnseite sowie die Details am Pfostenfuß hinzu. Gefälle, Überstände, Abdeckungen und die Lage der Stützen gehören deshalb von Anfang an zusammen mit der Grundform betrachtet.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gute erste Anfrage ermöglicht</a:t>
            </a:r>
          </a:p>
        </p:txBody>
      </p:sp>
      <p:sp>
        <p:nvSpPr>
          <p:cNvPr id="3" name="Content Placeholder 2"/>
          <p:cNvSpPr>
            <a:spLocks noGrp="1"/>
          </p:cNvSpPr>
          <p:nvPr>
            <p:ph idx="1"/>
          </p:nvPr>
        </p:nvSpPr>
        <p:spPr/>
        <p:txBody>
          <a:bodyPr/>
          <a:lstStyle/>
          <a:p>
            <a:pPr>
              <a:defRPr sz="1800"/>
            </a:pPr>
            <a:r>
              <a:t>Eine sinnvolle Anfrage bündelt den Standort, die Lage im Außen-, überdachten oder Innenbereich, ungefähre Maße, die gewünschte Nutzung und Angaben zum Bestand. Dazu kommen der geplante zeitliche Rahmen sowie vorhandene Unterlagen. Wer zunächst eine Einordnung sucht, kann die verschiedene Bauarten in der Übersicht typischer Holzkonstruktionen vergleichen. So wird erkennbar, welche Fragen für das jeweilige Vorhaben tatsächlich relevant sind. Die Angaben ersetzen weder eine fachliche Projektprüfung noch die Prüfung von Tragwerksplanung, Genehmigungsfragen oder örtlichen Vorgaben. Sie helfen jedoch, das Vorhaben strukturiert zu beschreiben und 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gute erste Anfrage ermöglicht</a:t>
            </a:r>
          </a:p>
        </p:txBody>
      </p:sp>
      <p:sp>
        <p:nvSpPr>
          <p:cNvPr id="3" name="Content Placeholder 2"/>
          <p:cNvSpPr>
            <a:spLocks noGrp="1"/>
          </p:cNvSpPr>
          <p:nvPr>
            <p:ph idx="1"/>
          </p:nvPr>
        </p:nvSpPr>
        <p:spPr/>
        <p:txBody>
          <a:bodyPr/>
          <a:lstStyle/>
          <a:p>
            <a:pPr>
              <a:defRPr sz="1800"/>
            </a:pPr>
            <a:r>
              <a:t>e nächsten Schritte sauber voneinander abzugrenzen. Gerade bei komplexen Projekten wie einem Balkonanbau ist das eine Grundlage für eine gezielte fachliche Beratung.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Welche Vorhaben fallen unter typische Holzkonstruktionen – und worin unterscheiden sie sich?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