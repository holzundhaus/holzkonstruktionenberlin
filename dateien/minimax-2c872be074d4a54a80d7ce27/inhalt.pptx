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konstruktionenberlin/-/blob/5504798a62c5fcfce20b65ace27912c90a8011fe/_posts/2026-10-25-beschichtungen-chemischer-holzschutz-abgrenzung.md" TargetMode="External"/><Relationship Id="rId3" Type="http://schemas.openxmlformats.org/officeDocument/2006/relationships/hyperlink" Target="https://holzundhaus.github.io/holzkonstruktionenberlin/dateien/minimax-2c872be074d4a54a80d7ce2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Beschichtungen und chemischer Holzschutz – Abgrenzung zum baulichen Holzschutz · Erklärende Präsentation</a:t>
            </a:r>
          </a:p>
        </p:txBody>
      </p:sp>
      <p:sp>
        <p:nvSpPr>
          <p:cNvPr id="3" name="Content Placeholder 2"/>
          <p:cNvSpPr>
            <a:spLocks noGrp="1"/>
          </p:cNvSpPr>
          <p:nvPr>
            <p:ph idx="1"/>
          </p:nvPr>
        </p:nvSpPr>
        <p:spPr/>
        <p:txBody>
          <a:bodyPr/>
          <a:lstStyle/>
          <a:p>
            <a:r>
              <a:t>Überblick: Beschichtungen und chemischer Holzschutz ergänzen den baulichen Holzschutz, ersetzen ihn jedoch nicht. Für Holzbauprojekte ist entscheidend, ob eine zusätzliche Maßnahme überhaupt erforderlich ist und wie sie zur Konstruktion passt. Der folgende Leitfaden ordnet die unterschiedlichen Aufgaben von Oberflächenbehandlung, organischem Schutz und konstruktiver Planung voneinander ab. Er zeigt außerdem, welche Angaben bei der Anfrage helfen und worauf bei Auswahl, Ausführung und Pflege zu achten 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Baulicher Holzschutz bleibt die Grundlage</a:t>
            </a:r>
          </a:p>
        </p:txBody>
      </p:sp>
      <p:sp>
        <p:nvSpPr>
          <p:cNvPr id="3" name="Content Placeholder 2"/>
          <p:cNvSpPr>
            <a:spLocks noGrp="1"/>
          </p:cNvSpPr>
          <p:nvPr>
            <p:ph idx="1"/>
          </p:nvPr>
        </p:nvSpPr>
        <p:spPr/>
        <p:txBody>
          <a:bodyPr/>
          <a:lstStyle/>
          <a:p>
            <a:pPr>
              <a:defRPr sz="1800"/>
            </a:pPr>
            <a:r>
              <a:t>Der konstruktive Holzschutz beginnt mit der Planung des Bauteils. Dazu gehören Anschlüsse, Hirnholzflächen, Pfostenfüße, Tropfkanten, Gefälle und Kontaktbereiche. Das Ziel ist, Regen fernzuhalten, Wasser gezielt abzuleiten und das Abtrocknen zu ermöglichen. Eine Beschichtung kann eine fehlende Tropfkante nicht ersetzen und auch kein ungeeignetes Gefälle ausgleichen. Wenn Wasser stehen bleibt, in Fugen eindringt oder das Holz nicht austrocknen kann, wirken zusätzliche Oberflächenmaßnahmen höchstens begrenzt. Bauliche Details und die spätere Pflege gehören deshalb von Anfang an zusammen gedacht. Weitere Grundlagen bietet der Ratgeber zum konstr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Baulicher Holzschutz bleibt die Grundlage</a:t>
            </a:r>
          </a:p>
        </p:txBody>
      </p:sp>
      <p:sp>
        <p:nvSpPr>
          <p:cNvPr id="3" name="Content Placeholder 2"/>
          <p:cNvSpPr>
            <a:spLocks noGrp="1"/>
          </p:cNvSpPr>
          <p:nvPr>
            <p:ph idx="1"/>
          </p:nvPr>
        </p:nvSpPr>
        <p:spPr/>
        <p:txBody>
          <a:bodyPr/>
          <a:lstStyle/>
          <a:p>
            <a:pPr>
              <a:defRPr sz="1800"/>
            </a:pPr>
            <a:r>
              <a:t>uktiven Holzschutz.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Beschichtung leisten kann</a:t>
            </a:r>
          </a:p>
        </p:txBody>
      </p:sp>
      <p:sp>
        <p:nvSpPr>
          <p:cNvPr id="3" name="Content Placeholder 2"/>
          <p:cNvSpPr>
            <a:spLocks noGrp="1"/>
          </p:cNvSpPr>
          <p:nvPr>
            <p:ph idx="1"/>
          </p:nvPr>
        </p:nvSpPr>
        <p:spPr/>
        <p:txBody>
          <a:bodyPr/>
          <a:lstStyle/>
          <a:p>
            <a:pPr>
              <a:defRPr sz="1800"/>
            </a:pPr>
            <a:r>
              <a:t>Beschichtungen wirken auf der Holzoberfläche. Sie können kurzfristige Feuchtebeanspruchung reduzieren, die Wasseraufnahme verlangsamen sowie Farbe und Glanz beeinflussen. Außerdem können sie die Reinigung und Pflege erleichtern. Ihre Wirkung setzt jedoch einen vorbereiteten Untergrund und eine gute Haftung voraus. Fehlstellen, Risse oder Verunreinigungen mindern die Schutzfunktion. Da Beschichtungen altern, ist eine regelmäßige Kontrolle wichtig; Erneuerungsintervalle hängen vom Bauteil, von der Beanspruchung und vom gewählten Aufbau ab. Eine Beschichtung sollte daher nicht als pauschale Antwort auf Feuchteschäden verstanden werden, sondern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Beschichtung leisten kann</a:t>
            </a:r>
          </a:p>
        </p:txBody>
      </p:sp>
      <p:sp>
        <p:nvSpPr>
          <p:cNvPr id="3" name="Content Placeholder 2"/>
          <p:cNvSpPr>
            <a:spLocks noGrp="1"/>
          </p:cNvSpPr>
          <p:nvPr>
            <p:ph idx="1"/>
          </p:nvPr>
        </p:nvSpPr>
        <p:spPr/>
        <p:txBody>
          <a:bodyPr/>
          <a:lstStyle/>
          <a:p>
            <a:pPr>
              <a:defRPr sz="1800"/>
            </a:pPr>
            <a:r>
              <a:t>ls Ergänzung zu einer trockenen, funktionierenden Konstruktion.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chemischer Holzschutz sinnvoll wird</a:t>
            </a:r>
          </a:p>
        </p:txBody>
      </p:sp>
      <p:sp>
        <p:nvSpPr>
          <p:cNvPr id="3" name="Content Placeholder 2"/>
          <p:cNvSpPr>
            <a:spLocks noGrp="1"/>
          </p:cNvSpPr>
          <p:nvPr>
            <p:ph idx="1"/>
          </p:nvPr>
        </p:nvSpPr>
        <p:spPr/>
        <p:txBody>
          <a:bodyPr/>
          <a:lstStyle/>
          <a:p>
            <a:pPr>
              <a:defRPr sz="1800"/>
            </a:pPr>
            <a:r>
              <a:t>Chemischer Holzschutz setzt an einem anderen Punkt an. Er kann holzschädigende Organismen wie Pilze oder Insekten hemmen und kommt vor allem dann in Betracht, wenn bauliche Maßnahmen allein nicht ausreichen oder eine besondere Gefährdung vorliegt. Die Auswahl der Wirkstoffe, die Aufbringung und erforderliche Schutzklassen folgen anerkannten Regeln und müssen zum konkreten Bauteil sowie zu seiner Umgebung passen. Zugelassenheit und Eignung für den vorgesehenen Einsatzbereich sind dabei wesentlich. Anwender und Verarbeiter tragen Verantwortung für den sachgerechten Umgang. Zusätzliche Behandlung ändert jedoch nichts an einer ungeeigneten Konstr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chemischer Holzschutz sinnvoll wird</a:t>
            </a:r>
          </a:p>
        </p:txBody>
      </p:sp>
      <p:sp>
        <p:nvSpPr>
          <p:cNvPr id="3" name="Content Placeholder 2"/>
          <p:cNvSpPr>
            <a:spLocks noGrp="1"/>
          </p:cNvSpPr>
          <p:nvPr>
            <p:ph idx="1"/>
          </p:nvPr>
        </p:nvSpPr>
        <p:spPr/>
        <p:txBody>
          <a:bodyPr/>
          <a:lstStyle/>
          <a:p>
            <a:pPr>
              <a:defRPr sz="1800"/>
            </a:pPr>
            <a:r>
              <a:t>uktion.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Praxisbezug: Witterung, Hirnholz und Bestand</a:t>
            </a:r>
          </a:p>
        </p:txBody>
      </p:sp>
      <p:sp>
        <p:nvSpPr>
          <p:cNvPr id="3" name="Content Placeholder 2"/>
          <p:cNvSpPr>
            <a:spLocks noGrp="1"/>
          </p:cNvSpPr>
          <p:nvPr>
            <p:ph idx="1"/>
          </p:nvPr>
        </p:nvSpPr>
        <p:spPr/>
        <p:txBody>
          <a:bodyPr/>
          <a:lstStyle/>
          <a:p>
            <a:pPr>
              <a:defRPr sz="1800"/>
            </a:pPr>
            <a:r>
              <a:t>Eine ergänzende Maßnahme kann sinnvoll sein, wenn die baulichen Details bereits standsicher geplant sind und eine zusätzliche Beanspruchung besteht. Das betrifft beispielsweise Bauteile im Freien, die trotz Überdachung windgetriebenem Regen oder Spritzwasser ausgesetzt sind. Auch Hirnholzflächen können nach baulicher Absicherung zusätzlich behandelt werden. Bei Reparaturen und Ergänzungen im Bestand ist zu prüfen, ob die ursprüngliche Konstruktion übernommen wird. Liegt das Holz trocken, zugänglich und kontrollierbar, kann eine Beschichtung genügen oder eine weitere Maßnahme entfallen. Entscheidend bleibt die Prüfung des Einzelfalls. Ergänzen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Praxisbezug: Witterung, Hirnholz und Bestand</a:t>
            </a:r>
          </a:p>
        </p:txBody>
      </p:sp>
      <p:sp>
        <p:nvSpPr>
          <p:cNvPr id="3" name="Content Placeholder 2"/>
          <p:cNvSpPr>
            <a:spLocks noGrp="1"/>
          </p:cNvSpPr>
          <p:nvPr>
            <p:ph idx="1"/>
          </p:nvPr>
        </p:nvSpPr>
        <p:spPr/>
        <p:txBody>
          <a:bodyPr/>
          <a:lstStyle/>
          <a:p>
            <a:pPr>
              <a:defRPr sz="1800"/>
            </a:pPr>
            <a:r>
              <a:t>d lässt sich die Holzfeuchte bei KVH und BSH genauer betrachten.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Anfrage gehört</a:t>
            </a:r>
          </a:p>
        </p:txBody>
      </p:sp>
      <p:sp>
        <p:nvSpPr>
          <p:cNvPr id="3" name="Content Placeholder 2"/>
          <p:cNvSpPr>
            <a:spLocks noGrp="1"/>
          </p:cNvSpPr>
          <p:nvPr>
            <p:ph idx="1"/>
          </p:nvPr>
        </p:nvSpPr>
        <p:spPr/>
        <p:txBody>
          <a:bodyPr/>
          <a:lstStyle/>
          <a:p>
            <a:pPr>
              <a:defRPr sz="1800"/>
            </a:pPr>
            <a:r>
              <a:t>Für eine belastbare Einschätzung sollten im Anfragetext mehrere Punkte stehen: Standort und Exposition, etwa Überdachung oder direkte Wetterbeanspruchung; geplante bauliche Maßnahmen wie Tropfkanten, Gefälle, Pfostenfüße und Belüftung; verwendeter Werkstoff und Querschnitte; Nutzung und Beanspruchung, einschließlich Sichtbarkeit, Tragfunktion und mechanischer Belastung; bisherige Beschichtungen und bekannte Vorschäden; Erwartungen an Lebensdauer und Pflegebereitschaft sowie der Genehmigungs- und Planungsstand. Wer diese Angaben frühzeitig ergänzt, kann Schutzmaßnahmen als Teil eines Gesamtkonzepts bewerten. Die Grundsätze ersetzen nicht die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eine Anfrage gehört</a:t>
            </a:r>
          </a:p>
        </p:txBody>
      </p:sp>
      <p:sp>
        <p:nvSpPr>
          <p:cNvPr id="3" name="Content Placeholder 2"/>
          <p:cNvSpPr>
            <a:spLocks noGrp="1"/>
          </p:cNvSpPr>
          <p:nvPr>
            <p:ph idx="1"/>
          </p:nvPr>
        </p:nvSpPr>
        <p:spPr/>
        <p:txBody>
          <a:bodyPr/>
          <a:lstStyle/>
          <a:p>
            <a:pPr>
              <a:defRPr sz="1800"/>
            </a:pPr>
            <a:r>
              <a:t>rüfung des konkreten Bauvorhabens durch die Fachplanung.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Beschichtungen und chemischer Holzschutz – Abgrenzung zum baulichen Holzschutz</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